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A89E"/>
              </a:solidFill>
              <a:effectLst/>
            </c:spPr>
          </c:dPt>
          <c:dPt>
            <c:idx val="1"/>
            <c:bubble3D val="0"/>
            <c:spPr>
              <a:solidFill>
                <a:srgbClr val="F77F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Registered</c:v>
                </c:pt>
                <c:pt idx="1">
                  <c:v>Casual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53383</c:v>
                </c:pt>
                <c:pt idx="1">
                  <c:v>4921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D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rides</c:v>
                </c:pt>
              </c:strCache>
            </c:strRef>
          </c:tx>
          <c:spPr>
            <a:solidFill>
              <a:srgbClr val="13A89E"/>
            </a:solidFill>
            <a:ln w="38100" cap="flat">
              <a:solidFill>
                <a:srgbClr val="13A8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A89E"/>
              </a:solidFill>
              <a:ln w="9525" cap="flat">
                <a:solidFill>
                  <a:srgbClr val="13A8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16</c:v>
                </c:pt>
                <c:pt idx="1">
                  <c:v>11</c:v>
                </c:pt>
                <c:pt idx="2">
                  <c:v>7</c:v>
                </c:pt>
                <c:pt idx="3">
                  <c:v>5</c:v>
                </c:pt>
                <c:pt idx="4">
                  <c:v>2</c:v>
                </c:pt>
                <c:pt idx="5">
                  <c:v>4</c:v>
                </c:pt>
                <c:pt idx="6">
                  <c:v>20</c:v>
                </c:pt>
                <c:pt idx="7">
                  <c:v>54</c:v>
                </c:pt>
                <c:pt idx="8">
                  <c:v>128</c:v>
                </c:pt>
                <c:pt idx="9">
                  <c:v>87</c:v>
                </c:pt>
                <c:pt idx="10">
                  <c:v>54</c:v>
                </c:pt>
                <c:pt idx="11">
                  <c:v>59</c:v>
                </c:pt>
                <c:pt idx="12">
                  <c:v>76</c:v>
                </c:pt>
                <c:pt idx="13">
                  <c:v>79</c:v>
                </c:pt>
                <c:pt idx="14">
                  <c:v>74</c:v>
                </c:pt>
                <c:pt idx="15">
                  <c:v>78</c:v>
                </c:pt>
                <c:pt idx="16">
                  <c:v>89</c:v>
                </c:pt>
                <c:pt idx="17">
                  <c:v>140</c:v>
                </c:pt>
                <c:pt idx="18">
                  <c:v>123</c:v>
                </c:pt>
                <c:pt idx="19">
                  <c:v>85</c:v>
                </c:pt>
                <c:pt idx="20">
                  <c:v>62</c:v>
                </c:pt>
                <c:pt idx="21">
                  <c:v>46</c:v>
                </c:pt>
                <c:pt idx="22">
                  <c:v>35</c:v>
                </c:pt>
                <c:pt idx="23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C"/>
                    </a:solidFill>
                    <a:latin typeface="Arial"/>
                  </a:rPr>
                  <a:t>Avg rides / hour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rides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</c:v>
                </c:pt>
                <c:pt idx="1">
                  <c:v>57</c:v>
                </c:pt>
                <c:pt idx="2">
                  <c:v>66</c:v>
                </c:pt>
                <c:pt idx="3">
                  <c:v>61</c:v>
                </c:pt>
                <c:pt idx="4">
                  <c:v>68</c:v>
                </c:pt>
                <c:pt idx="5">
                  <c:v>66</c:v>
                </c:pt>
                <c:pt idx="6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rides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Mist / Cloudy</c:v>
                  </c:pt>
                  <c:pt idx="2">
                    <c:v>Light Rain / Snow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59</c:v>
                </c:pt>
                <c:pt idx="2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rides</c:v>
                </c:pt>
              </c:strCache>
            </c:strRef>
          </c:tx>
          <c:spPr>
            <a:solidFill>
              <a:srgbClr val="8DA9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0.0–0.2</c:v>
                  </c:pt>
                  <c:pt idx="1">
                    <c:v>0.2–0.4</c:v>
                  </c:pt>
                  <c:pt idx="2">
                    <c:v>0.4–0.6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68</c:v>
                </c:pt>
                <c:pt idx="2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F77F00"/>
            </a:solidFill>
            <a:ln w="38100" cap="flat">
              <a:solidFill>
                <a:srgbClr val="F77F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77F00"/>
              </a:solidFill>
              <a:ln w="9525" cap="flat">
                <a:solidFill>
                  <a:srgbClr val="F77F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Sheet1!$A$2:$A$46</c:f>
              <c:multiLvlStrCache>
                <c:ptCount val="45"/>
                <c:lvl>
                  <c:pt idx="0">
                    <c:v>1 Jan</c:v>
                  </c:pt>
                  <c:pt idx="1">
                    <c:v>2 Jan</c:v>
                  </c:pt>
                  <c:pt idx="2">
                    <c:v>3 Jan</c:v>
                  </c:pt>
                  <c:pt idx="3">
                    <c:v>4 Jan</c:v>
                  </c:pt>
                  <c:pt idx="4">
                    <c:v>5 Jan</c:v>
                  </c:pt>
                  <c:pt idx="5">
                    <c:v>6 Jan</c:v>
                  </c:pt>
                  <c:pt idx="6">
                    <c:v>7 Jan</c:v>
                  </c:pt>
                  <c:pt idx="7">
                    <c:v>8 Jan</c:v>
                  </c:pt>
                  <c:pt idx="8">
                    <c:v>9 Jan</c:v>
                  </c:pt>
                  <c:pt idx="9">
                    <c:v>10 Jan</c:v>
                  </c:pt>
                  <c:pt idx="10">
                    <c:v>11 Jan</c:v>
                  </c:pt>
                  <c:pt idx="11">
                    <c:v>12 Jan</c:v>
                  </c:pt>
                  <c:pt idx="12">
                    <c:v>13 Jan</c:v>
                  </c:pt>
                  <c:pt idx="13">
                    <c:v>14 Jan</c:v>
                  </c:pt>
                  <c:pt idx="14">
                    <c:v>15 Jan</c:v>
                  </c:pt>
                  <c:pt idx="15">
                    <c:v>16 Jan</c:v>
                  </c:pt>
                  <c:pt idx="16">
                    <c:v>17 Jan</c:v>
                  </c:pt>
                  <c:pt idx="17">
                    <c:v>18 Jan</c:v>
                  </c:pt>
                  <c:pt idx="18">
                    <c:v>19 Jan</c:v>
                  </c:pt>
                  <c:pt idx="19">
                    <c:v>20 Jan</c:v>
                  </c:pt>
                  <c:pt idx="20">
                    <c:v>21 Jan</c:v>
                  </c:pt>
                  <c:pt idx="21">
                    <c:v>22 Jan</c:v>
                  </c:pt>
                  <c:pt idx="22">
                    <c:v>23 Jan</c:v>
                  </c:pt>
                  <c:pt idx="23">
                    <c:v>24 Jan</c:v>
                  </c:pt>
                  <c:pt idx="24">
                    <c:v>25 Jan</c:v>
                  </c:pt>
                  <c:pt idx="25">
                    <c:v>26 Jan</c:v>
                  </c:pt>
                  <c:pt idx="26">
                    <c:v>27 Jan</c:v>
                  </c:pt>
                  <c:pt idx="27">
                    <c:v>28 Jan</c:v>
                  </c:pt>
                  <c:pt idx="28">
                    <c:v>29 Jan</c:v>
                  </c:pt>
                  <c:pt idx="29">
                    <c:v>30 Jan</c:v>
                  </c:pt>
                  <c:pt idx="30">
                    <c:v>31 Jan</c:v>
                  </c:pt>
                  <c:pt idx="31">
                    <c:v>1 Feb</c:v>
                  </c:pt>
                  <c:pt idx="32">
                    <c:v>2 Feb</c:v>
                  </c:pt>
                  <c:pt idx="33">
                    <c:v>3 Feb</c:v>
                  </c:pt>
                  <c:pt idx="34">
                    <c:v>4 Feb</c:v>
                  </c:pt>
                  <c:pt idx="35">
                    <c:v>5 Feb</c:v>
                  </c:pt>
                  <c:pt idx="36">
                    <c:v>6 Feb</c:v>
                  </c:pt>
                  <c:pt idx="37">
                    <c:v>7 Feb</c:v>
                  </c:pt>
                  <c:pt idx="38">
                    <c:v>8 Feb</c:v>
                  </c:pt>
                  <c:pt idx="39">
                    <c:v>9 Feb</c:v>
                  </c:pt>
                  <c:pt idx="40">
                    <c:v>10 Feb</c:v>
                  </c:pt>
                  <c:pt idx="41">
                    <c:v>11 Feb</c:v>
                  </c:pt>
                  <c:pt idx="42">
                    <c:v>12 Feb</c:v>
                  </c:pt>
                  <c:pt idx="43">
                    <c:v>13 Feb</c:v>
                  </c:pt>
                  <c:pt idx="44">
                    <c:v>14 Feb</c:v>
                  </c:pt>
                </c:lvl>
              </c:multiLvlStrCache>
            </c:multiLvl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C"/>
                    </a:solidFill>
                    <a:latin typeface="Arial"/>
                  </a:rPr>
                  <a:t>Rides / day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from 1,000 hourly rental records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 – 14 Feb 2011  |  Usage patterns by hour, weekday, weather and temperature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 sheets merged on 'instant' into one clean table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complete_workbook.xlsx (Merged_Data, 1,000 hourly records)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920240" cy="73152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002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73198"/>
            <a:ext cx="17373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371600"/>
            <a:ext cx="192024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16002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273198"/>
            <a:ext cx="17373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71600"/>
            <a:ext cx="192024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6002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273198"/>
            <a:ext cx="17373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rides per hour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371600"/>
            <a:ext cx="1920240" cy="73152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16002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273198"/>
            <a:ext cx="17373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rides in one hour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days of data covering weather, temperature, humidity, wind and rider type.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Riding?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members dominate demand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complete_workbook.xlsx (Merged_Data, 1,000 hourly records)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37160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0" y="1371600"/>
            <a:ext cx="3566160" cy="73152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53,383 (91.6%)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2167128"/>
            <a:ext cx="3383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rides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292608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0" y="2926080"/>
            <a:ext cx="356616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4,921 (8.4%)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3721608"/>
            <a:ext cx="3383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by Hour of 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rides per hour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complete_workbook.xlsx (Merged_Data, 1,000 hourly records)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 commute peaks: 8 AM and 5 PM.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 Quiet Hours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commuters drive the peaks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complete_workbook.xlsx (Merged_Data, 1,000 hourly records)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002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0163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rides at 5 PM (busiest)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73152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6002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220163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rides at 8 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25603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6002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20163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rides at 4 AM (quietest)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AM, registered riders average 125 vs only 3 casual: a commuter pattern.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by Weekday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rides per hour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complete_workbook.xlsx (Merged_Data, 1,000 hourly records)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is busiest (68); Saturday is the lowest (47).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Weather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rides per hour by weather condition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complete_workbook.xlsx (Merged_Data, 1,000 hourly records)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or snow cuts demand by almost half compared with clear weather.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 &amp; Wind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rides by normalized temperature band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complete_workbook.xlsx (Merged_Data, 1,000 hourly records)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9496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rides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508760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508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+0.23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94960" y="2377440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−0.25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94960" y="3246120"/>
            <a:ext cx="3291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3246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3246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temperatures help; high humidity lowers demand.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Ride Totals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13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 per day, 1 Jan – 14 Feb 2011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complete_workbook.xlsx (Merged_Data, 1,000 hourly records)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day: 25 Jan with 1,985 rides; lowest day: 151 rides.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members make up 91.6% of all rides.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at 8 AM and 5 PM on commute hours.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outperform weekends; Saturday is slowest.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or snow nearly halves hourly demand.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average about 50 rides/hour vs 60 on normal days.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Data Insights</dc:title>
  <dc:subject>PptxGenJS Presentation</dc:subject>
  <dc:creator>PptxGenJS</dc:creator>
  <cp:lastModifiedBy>PptxGenJS</cp:lastModifiedBy>
  <cp:revision>1</cp:revision>
  <dcterms:created xsi:type="dcterms:W3CDTF">2026-10-02T14:38:36Z</dcterms:created>
  <dcterms:modified xsi:type="dcterms:W3CDTF">2026-10-02T14:38:36Z</dcterms:modified>
</cp:coreProperties>
</file>